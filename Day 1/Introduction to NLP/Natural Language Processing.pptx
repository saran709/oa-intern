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3" r:id="rId6"/>
    <p:sldId id="274" r:id="rId7"/>
    <p:sldId id="275" r:id="rId8"/>
    <p:sldId id="276" r:id="rId9"/>
    <p:sldId id="277" r:id="rId10"/>
    <p:sldId id="278" r:id="rId11"/>
    <p:sldId id="279" r:id="rId12"/>
    <p:sldId id="283" r:id="rId13"/>
    <p:sldId id="280" r:id="rId14"/>
    <p:sldId id="281" r:id="rId15"/>
    <p:sldId id="282" r:id="rId16"/>
    <p:sldId id="284" r:id="rId17"/>
    <p:sldId id="285"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86"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E68938A-F327-4DB0-B944-55B060369703}" type="datetimeFigureOut">
              <a:rPr lang="en-IN" smtClean="0"/>
              <a:t>13-10-2026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83265A-67C3-4F51-B9C3-9671B14E8BB0}" type="slidenum">
              <a:rPr lang="en-IN" smtClean="0"/>
              <a:t>‹#›</a:t>
            </a:fld>
            <a:endParaRPr lang="en-IN"/>
          </a:p>
        </p:txBody>
      </p:sp>
    </p:spTree>
    <p:extLst>
      <p:ext uri="{BB962C8B-B14F-4D97-AF65-F5344CB8AC3E}">
        <p14:creationId xmlns:p14="http://schemas.microsoft.com/office/powerpoint/2010/main" val="687542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E68938A-F327-4DB0-B944-55B060369703}" type="datetimeFigureOut">
              <a:rPr lang="en-IN" smtClean="0"/>
              <a:t>13-10-2026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83265A-67C3-4F51-B9C3-9671B14E8BB0}" type="slidenum">
              <a:rPr lang="en-IN" smtClean="0"/>
              <a:t>‹#›</a:t>
            </a:fld>
            <a:endParaRPr lang="en-IN"/>
          </a:p>
        </p:txBody>
      </p:sp>
    </p:spTree>
    <p:extLst>
      <p:ext uri="{BB962C8B-B14F-4D97-AF65-F5344CB8AC3E}">
        <p14:creationId xmlns:p14="http://schemas.microsoft.com/office/powerpoint/2010/main" val="1459136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E68938A-F327-4DB0-B944-55B060369703}" type="datetimeFigureOut">
              <a:rPr lang="en-IN" smtClean="0"/>
              <a:t>13-10-2026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83265A-67C3-4F51-B9C3-9671B14E8BB0}" type="slidenum">
              <a:rPr lang="en-IN" smtClean="0"/>
              <a:t>‹#›</a:t>
            </a:fld>
            <a:endParaRPr lang="en-IN"/>
          </a:p>
        </p:txBody>
      </p:sp>
    </p:spTree>
    <p:extLst>
      <p:ext uri="{BB962C8B-B14F-4D97-AF65-F5344CB8AC3E}">
        <p14:creationId xmlns:p14="http://schemas.microsoft.com/office/powerpoint/2010/main" val="2171760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E68938A-F327-4DB0-B944-55B060369703}" type="datetimeFigureOut">
              <a:rPr lang="en-IN" smtClean="0"/>
              <a:t>13-10-2026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83265A-67C3-4F51-B9C3-9671B14E8BB0}" type="slidenum">
              <a:rPr lang="en-IN" smtClean="0"/>
              <a:t>‹#›</a:t>
            </a:fld>
            <a:endParaRPr lang="en-IN"/>
          </a:p>
        </p:txBody>
      </p:sp>
    </p:spTree>
    <p:extLst>
      <p:ext uri="{BB962C8B-B14F-4D97-AF65-F5344CB8AC3E}">
        <p14:creationId xmlns:p14="http://schemas.microsoft.com/office/powerpoint/2010/main" val="3954574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E68938A-F327-4DB0-B944-55B060369703}" type="datetimeFigureOut">
              <a:rPr lang="en-IN" smtClean="0"/>
              <a:t>13-10-2026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83265A-67C3-4F51-B9C3-9671B14E8BB0}" type="slidenum">
              <a:rPr lang="en-IN" smtClean="0"/>
              <a:t>‹#›</a:t>
            </a:fld>
            <a:endParaRPr lang="en-IN"/>
          </a:p>
        </p:txBody>
      </p:sp>
    </p:spTree>
    <p:extLst>
      <p:ext uri="{BB962C8B-B14F-4D97-AF65-F5344CB8AC3E}">
        <p14:creationId xmlns:p14="http://schemas.microsoft.com/office/powerpoint/2010/main" val="2714326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E68938A-F327-4DB0-B944-55B060369703}" type="datetimeFigureOut">
              <a:rPr lang="en-IN" smtClean="0"/>
              <a:t>13-10-2026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83265A-67C3-4F51-B9C3-9671B14E8BB0}" type="slidenum">
              <a:rPr lang="en-IN" smtClean="0"/>
              <a:t>‹#›</a:t>
            </a:fld>
            <a:endParaRPr lang="en-IN"/>
          </a:p>
        </p:txBody>
      </p:sp>
    </p:spTree>
    <p:extLst>
      <p:ext uri="{BB962C8B-B14F-4D97-AF65-F5344CB8AC3E}">
        <p14:creationId xmlns:p14="http://schemas.microsoft.com/office/powerpoint/2010/main" val="2035449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68938A-F327-4DB0-B944-55B060369703}" type="datetimeFigureOut">
              <a:rPr lang="en-IN" smtClean="0"/>
              <a:t>13-10-2026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983265A-67C3-4F51-B9C3-9671B14E8BB0}" type="slidenum">
              <a:rPr lang="en-IN" smtClean="0"/>
              <a:t>‹#›</a:t>
            </a:fld>
            <a:endParaRPr lang="en-IN"/>
          </a:p>
        </p:txBody>
      </p:sp>
    </p:spTree>
    <p:extLst>
      <p:ext uri="{BB962C8B-B14F-4D97-AF65-F5344CB8AC3E}">
        <p14:creationId xmlns:p14="http://schemas.microsoft.com/office/powerpoint/2010/main" val="2884733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68938A-F327-4DB0-B944-55B060369703}" type="datetimeFigureOut">
              <a:rPr lang="en-IN" smtClean="0"/>
              <a:t>13-10-2026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83265A-67C3-4F51-B9C3-9671B14E8BB0}" type="slidenum">
              <a:rPr lang="en-IN" smtClean="0"/>
              <a:t>‹#›</a:t>
            </a:fld>
            <a:endParaRPr lang="en-IN"/>
          </a:p>
        </p:txBody>
      </p:sp>
    </p:spTree>
    <p:extLst>
      <p:ext uri="{BB962C8B-B14F-4D97-AF65-F5344CB8AC3E}">
        <p14:creationId xmlns:p14="http://schemas.microsoft.com/office/powerpoint/2010/main" val="1681625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68938A-F327-4DB0-B944-55B060369703}" type="datetimeFigureOut">
              <a:rPr lang="en-IN" smtClean="0"/>
              <a:t>13-10-2026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83265A-67C3-4F51-B9C3-9671B14E8BB0}" type="slidenum">
              <a:rPr lang="en-IN" smtClean="0"/>
              <a:t>‹#›</a:t>
            </a:fld>
            <a:endParaRPr lang="en-IN"/>
          </a:p>
        </p:txBody>
      </p:sp>
    </p:spTree>
    <p:extLst>
      <p:ext uri="{BB962C8B-B14F-4D97-AF65-F5344CB8AC3E}">
        <p14:creationId xmlns:p14="http://schemas.microsoft.com/office/powerpoint/2010/main" val="62405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E68938A-F327-4DB0-B944-55B060369703}" type="datetimeFigureOut">
              <a:rPr lang="en-IN" smtClean="0"/>
              <a:t>13-10-2026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83265A-67C3-4F51-B9C3-9671B14E8BB0}" type="slidenum">
              <a:rPr lang="en-IN" smtClean="0"/>
              <a:t>‹#›</a:t>
            </a:fld>
            <a:endParaRPr lang="en-IN"/>
          </a:p>
        </p:txBody>
      </p:sp>
    </p:spTree>
    <p:extLst>
      <p:ext uri="{BB962C8B-B14F-4D97-AF65-F5344CB8AC3E}">
        <p14:creationId xmlns:p14="http://schemas.microsoft.com/office/powerpoint/2010/main" val="2565849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E68938A-F327-4DB0-B944-55B060369703}" type="datetimeFigureOut">
              <a:rPr lang="en-IN" smtClean="0"/>
              <a:t>13-10-2026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83265A-67C3-4F51-B9C3-9671B14E8BB0}" type="slidenum">
              <a:rPr lang="en-IN" smtClean="0"/>
              <a:t>‹#›</a:t>
            </a:fld>
            <a:endParaRPr lang="en-IN"/>
          </a:p>
        </p:txBody>
      </p:sp>
    </p:spTree>
    <p:extLst>
      <p:ext uri="{BB962C8B-B14F-4D97-AF65-F5344CB8AC3E}">
        <p14:creationId xmlns:p14="http://schemas.microsoft.com/office/powerpoint/2010/main" val="872617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8938A-F327-4DB0-B944-55B060369703}" type="datetimeFigureOut">
              <a:rPr lang="en-IN" smtClean="0"/>
              <a:t>13-10-2026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83265A-67C3-4F51-B9C3-9671B14E8BB0}" type="slidenum">
              <a:rPr lang="en-IN" smtClean="0"/>
              <a:t>‹#›</a:t>
            </a:fld>
            <a:endParaRPr lang="en-IN"/>
          </a:p>
        </p:txBody>
      </p:sp>
    </p:spTree>
    <p:extLst>
      <p:ext uri="{BB962C8B-B14F-4D97-AF65-F5344CB8AC3E}">
        <p14:creationId xmlns:p14="http://schemas.microsoft.com/office/powerpoint/2010/main" val="819404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Natural Language Processing</a:t>
            </a:r>
          </a:p>
        </p:txBody>
      </p:sp>
    </p:spTree>
    <p:extLst>
      <p:ext uri="{BB962C8B-B14F-4D97-AF65-F5344CB8AC3E}">
        <p14:creationId xmlns:p14="http://schemas.microsoft.com/office/powerpoint/2010/main" val="2366179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Definition</a:t>
            </a:r>
          </a:p>
        </p:txBody>
      </p:sp>
      <p:sp>
        <p:nvSpPr>
          <p:cNvPr id="3" name="Content Placeholder 2"/>
          <p:cNvSpPr>
            <a:spLocks noGrp="1"/>
          </p:cNvSpPr>
          <p:nvPr>
            <p:ph idx="1"/>
          </p:nvPr>
        </p:nvSpPr>
        <p:spPr/>
        <p:txBody>
          <a:bodyPr/>
          <a:lstStyle/>
          <a:p>
            <a:r>
              <a:rPr lang="en-IN" dirty="0"/>
              <a:t>A field of AI that allows computers to understand, interpret and generate human language data.</a:t>
            </a:r>
          </a:p>
          <a:p>
            <a:r>
              <a:rPr lang="en-IN" dirty="0"/>
              <a:t>Techniques used to process and analyse human language data.</a:t>
            </a:r>
          </a:p>
          <a:p>
            <a:r>
              <a:rPr lang="en-IN" dirty="0"/>
              <a:t>1) Statistics</a:t>
            </a:r>
          </a:p>
          <a:p>
            <a:r>
              <a:rPr lang="en-IN" dirty="0"/>
              <a:t>2) ML</a:t>
            </a:r>
          </a:p>
          <a:p>
            <a:r>
              <a:rPr lang="en-IN" dirty="0"/>
              <a:t>3) DL</a:t>
            </a:r>
          </a:p>
        </p:txBody>
      </p:sp>
    </p:spTree>
    <p:extLst>
      <p:ext uri="{BB962C8B-B14F-4D97-AF65-F5344CB8AC3E}">
        <p14:creationId xmlns:p14="http://schemas.microsoft.com/office/powerpoint/2010/main" val="1288893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Supervised and unsupervised ML</a:t>
            </a:r>
          </a:p>
        </p:txBody>
      </p:sp>
      <p:sp>
        <p:nvSpPr>
          <p:cNvPr id="3" name="Content Placeholder 2"/>
          <p:cNvSpPr>
            <a:spLocks noGrp="1"/>
          </p:cNvSpPr>
          <p:nvPr>
            <p:ph idx="1"/>
          </p:nvPr>
        </p:nvSpPr>
        <p:spPr/>
        <p:txBody>
          <a:bodyPr/>
          <a:lstStyle/>
          <a:p>
            <a:r>
              <a:rPr lang="en-IN" dirty="0"/>
              <a:t>Training an algorithm to learn the relationship between the input and an output (both are provided)</a:t>
            </a:r>
          </a:p>
          <a:p>
            <a:endParaRPr lang="en-IN" dirty="0"/>
          </a:p>
          <a:p>
            <a:r>
              <a:rPr lang="en-IN" dirty="0"/>
              <a:t>Group items based on patterns and similar characteristics. </a:t>
            </a:r>
          </a:p>
        </p:txBody>
      </p:sp>
    </p:spTree>
    <p:extLst>
      <p:ext uri="{BB962C8B-B14F-4D97-AF65-F5344CB8AC3E}">
        <p14:creationId xmlns:p14="http://schemas.microsoft.com/office/powerpoint/2010/main" val="1393185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Importance of data preparation</a:t>
            </a:r>
          </a:p>
        </p:txBody>
      </p:sp>
      <p:sp>
        <p:nvSpPr>
          <p:cNvPr id="3" name="Content Placeholder 2"/>
          <p:cNvSpPr>
            <a:spLocks noGrp="1"/>
          </p:cNvSpPr>
          <p:nvPr>
            <p:ph idx="1"/>
          </p:nvPr>
        </p:nvSpPr>
        <p:spPr/>
        <p:txBody>
          <a:bodyPr>
            <a:normAutofit fontScale="92500" lnSpcReduction="10000"/>
          </a:bodyPr>
          <a:lstStyle/>
          <a:p>
            <a:r>
              <a:rPr lang="en-IN" dirty="0"/>
              <a:t>Quality of the data is one of the important factors in determining the accuracy.</a:t>
            </a:r>
          </a:p>
          <a:p>
            <a:r>
              <a:rPr lang="en-IN" dirty="0"/>
              <a:t>Data </a:t>
            </a:r>
            <a:r>
              <a:rPr lang="en-IN" dirty="0" err="1"/>
              <a:t>preprocessing</a:t>
            </a:r>
            <a:endParaRPr lang="en-IN" dirty="0"/>
          </a:p>
          <a:p>
            <a:pPr marL="0" indent="0">
              <a:buNone/>
            </a:pPr>
            <a:r>
              <a:rPr lang="en-IN" b="1" dirty="0"/>
              <a:t>General cleaning</a:t>
            </a:r>
          </a:p>
          <a:p>
            <a:r>
              <a:rPr lang="en-IN" dirty="0"/>
              <a:t> Organizing </a:t>
            </a:r>
          </a:p>
          <a:p>
            <a:r>
              <a:rPr lang="en-IN" dirty="0"/>
              <a:t> Tidying up the text</a:t>
            </a:r>
          </a:p>
          <a:p>
            <a:r>
              <a:rPr lang="en-IN" dirty="0"/>
              <a:t> Remove anything that can throw an error</a:t>
            </a:r>
          </a:p>
          <a:p>
            <a:pPr marL="0" indent="0">
              <a:buNone/>
            </a:pPr>
            <a:r>
              <a:rPr lang="en-IN" b="1" dirty="0"/>
              <a:t>Removing noise from the dataset</a:t>
            </a:r>
          </a:p>
          <a:p>
            <a:r>
              <a:rPr lang="en-IN" dirty="0"/>
              <a:t> Removing aspects in the data that are not adding any value</a:t>
            </a:r>
          </a:p>
          <a:p>
            <a:pPr marL="0" indent="0">
              <a:buNone/>
            </a:pPr>
            <a:r>
              <a:rPr lang="en-IN" b="1" dirty="0"/>
              <a:t>Getting the data in the right format for the ML algorithm</a:t>
            </a:r>
          </a:p>
        </p:txBody>
      </p:sp>
    </p:spTree>
    <p:extLst>
      <p:ext uri="{BB962C8B-B14F-4D97-AF65-F5344CB8AC3E}">
        <p14:creationId xmlns:p14="http://schemas.microsoft.com/office/powerpoint/2010/main" val="2458022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Virtual environment</a:t>
            </a:r>
          </a:p>
        </p:txBody>
      </p:sp>
      <p:sp>
        <p:nvSpPr>
          <p:cNvPr id="3" name="Content Placeholder 2"/>
          <p:cNvSpPr>
            <a:spLocks noGrp="1"/>
          </p:cNvSpPr>
          <p:nvPr>
            <p:ph idx="1"/>
          </p:nvPr>
        </p:nvSpPr>
        <p:spPr/>
        <p:txBody>
          <a:bodyPr/>
          <a:lstStyle/>
          <a:p>
            <a:r>
              <a:rPr lang="en-IN" dirty="0"/>
              <a:t>A dedicated workspace for your project.</a:t>
            </a:r>
          </a:p>
          <a:p>
            <a:r>
              <a:rPr lang="en-IN" dirty="0"/>
              <a:t>You can install the exact package versions required for this course.</a:t>
            </a:r>
          </a:p>
          <a:p>
            <a:r>
              <a:rPr lang="en-IN" dirty="0"/>
              <a:t>You won’t risk breaking other python projects.</a:t>
            </a:r>
          </a:p>
          <a:p>
            <a:r>
              <a:rPr lang="en-IN" dirty="0" err="1"/>
              <a:t>Conda</a:t>
            </a:r>
            <a:r>
              <a:rPr lang="en-IN" dirty="0"/>
              <a:t>: an environment and a package manager</a:t>
            </a:r>
          </a:p>
          <a:p>
            <a:r>
              <a:rPr lang="en-IN" dirty="0" err="1"/>
              <a:t>conda</a:t>
            </a:r>
            <a:r>
              <a:rPr lang="en-IN" dirty="0"/>
              <a:t> create --name </a:t>
            </a:r>
            <a:r>
              <a:rPr lang="en-IN" dirty="0" err="1"/>
              <a:t>nlp_course_env</a:t>
            </a:r>
            <a:r>
              <a:rPr lang="en-IN" dirty="0"/>
              <a:t> python=3.11</a:t>
            </a:r>
          </a:p>
          <a:p>
            <a:r>
              <a:rPr lang="en-IN" dirty="0" err="1"/>
              <a:t>Conda</a:t>
            </a:r>
            <a:r>
              <a:rPr lang="en-IN" dirty="0"/>
              <a:t> activate </a:t>
            </a:r>
            <a:r>
              <a:rPr lang="en-IN" dirty="0" err="1"/>
              <a:t>nlp_course_env</a:t>
            </a:r>
            <a:endParaRPr lang="en-IN" dirty="0"/>
          </a:p>
          <a:p>
            <a:r>
              <a:rPr lang="en-IN" dirty="0"/>
              <a:t>pip : Python’s built-in package installer</a:t>
            </a:r>
          </a:p>
          <a:p>
            <a:r>
              <a:rPr lang="en-IN" dirty="0" err="1"/>
              <a:t>PyPI</a:t>
            </a:r>
            <a:r>
              <a:rPr lang="en-IN" dirty="0"/>
              <a:t>: the official Python Package Index</a:t>
            </a:r>
          </a:p>
        </p:txBody>
      </p:sp>
    </p:spTree>
    <p:extLst>
      <p:ext uri="{BB962C8B-B14F-4D97-AF65-F5344CB8AC3E}">
        <p14:creationId xmlns:p14="http://schemas.microsoft.com/office/powerpoint/2010/main" val="2914207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Paste the contents from requirements.txt in the environment.</a:t>
            </a:r>
          </a:p>
          <a:p>
            <a:r>
              <a:rPr lang="en-IN" dirty="0"/>
              <a:t>Download the model from Spacy library</a:t>
            </a:r>
          </a:p>
          <a:p>
            <a:r>
              <a:rPr lang="en-IN" dirty="0"/>
              <a:t>python -m  spacy download </a:t>
            </a:r>
            <a:r>
              <a:rPr lang="en-IN" dirty="0" err="1"/>
              <a:t>en_core_web_sm</a:t>
            </a:r>
            <a:endParaRPr lang="en-IN" dirty="0"/>
          </a:p>
          <a:p>
            <a:r>
              <a:rPr lang="en-IN" dirty="0"/>
              <a:t>python -m </a:t>
            </a:r>
            <a:r>
              <a:rPr lang="en-IN" dirty="0" err="1"/>
              <a:t>ipykernel</a:t>
            </a:r>
            <a:r>
              <a:rPr lang="en-IN" dirty="0"/>
              <a:t> install –user --name=</a:t>
            </a:r>
            <a:r>
              <a:rPr lang="en-IN" dirty="0" err="1"/>
              <a:t>nlp_course_env</a:t>
            </a:r>
            <a:endParaRPr lang="en-IN" dirty="0"/>
          </a:p>
          <a:p>
            <a:r>
              <a:rPr lang="en-IN" dirty="0"/>
              <a:t>File - New Notebook – select Kernel</a:t>
            </a:r>
          </a:p>
        </p:txBody>
      </p:sp>
    </p:spTree>
    <p:extLst>
      <p:ext uri="{BB962C8B-B14F-4D97-AF65-F5344CB8AC3E}">
        <p14:creationId xmlns:p14="http://schemas.microsoft.com/office/powerpoint/2010/main" val="3562729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Creating new Python </a:t>
            </a:r>
            <a:r>
              <a:rPr lang="en-US" dirty="0" err="1"/>
              <a:t>evironment</a:t>
            </a:r>
            <a:r>
              <a:rPr lang="en-US" dirty="0"/>
              <a:t>.</a:t>
            </a:r>
            <a:br>
              <a:rPr lang="en-US" dirty="0"/>
            </a:br>
            <a:endParaRPr lang="en-IN" dirty="0"/>
          </a:p>
        </p:txBody>
      </p:sp>
      <p:sp>
        <p:nvSpPr>
          <p:cNvPr id="3" name="Content Placeholder 2"/>
          <p:cNvSpPr>
            <a:spLocks noGrp="1"/>
          </p:cNvSpPr>
          <p:nvPr>
            <p:ph idx="1"/>
          </p:nvPr>
        </p:nvSpPr>
        <p:spPr/>
        <p:txBody>
          <a:bodyPr>
            <a:normAutofit/>
          </a:bodyPr>
          <a:lstStyle/>
          <a:p>
            <a:r>
              <a:rPr lang="en-US" dirty="0"/>
              <a:t>A virtual environment is like a separate workspace for Python. It has its own Python version and its own set of installed packages. This way:</a:t>
            </a:r>
          </a:p>
          <a:p>
            <a:r>
              <a:rPr lang="en-US" dirty="0"/>
              <a:t>You can install the exact versions needed for the course.</a:t>
            </a:r>
          </a:p>
          <a:p>
            <a:r>
              <a:rPr lang="en-US" dirty="0"/>
              <a:t>You won’t break any other Python projects on your computer.</a:t>
            </a:r>
          </a:p>
          <a:p>
            <a:r>
              <a:rPr lang="en-US" dirty="0"/>
              <a:t>We’ll create and manage this environment with </a:t>
            </a:r>
            <a:r>
              <a:rPr lang="en-US" dirty="0" err="1"/>
              <a:t>conda</a:t>
            </a:r>
            <a:r>
              <a:rPr lang="en-US" dirty="0"/>
              <a:t> - a package and environment manager.</a:t>
            </a:r>
          </a:p>
          <a:p>
            <a:r>
              <a:rPr lang="en-US" dirty="0"/>
              <a:t>Open the Anaconda/</a:t>
            </a:r>
            <a:r>
              <a:rPr lang="en-US" dirty="0" err="1"/>
              <a:t>Miniconda</a:t>
            </a:r>
            <a:r>
              <a:rPr lang="en-US" dirty="0"/>
              <a:t> Prompt (Windows) or Terminal (</a:t>
            </a:r>
            <a:r>
              <a:rPr lang="en-US" dirty="0" err="1"/>
              <a:t>macOS</a:t>
            </a:r>
            <a:r>
              <a:rPr lang="en-US" dirty="0"/>
              <a:t>/Linux) and execute the commands below:</a:t>
            </a:r>
          </a:p>
          <a:p>
            <a:endParaRPr lang="en-US" dirty="0"/>
          </a:p>
        </p:txBody>
      </p:sp>
    </p:spTree>
    <p:extLst>
      <p:ext uri="{BB962C8B-B14F-4D97-AF65-F5344CB8AC3E}">
        <p14:creationId xmlns:p14="http://schemas.microsoft.com/office/powerpoint/2010/main" val="1596372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conda</a:t>
            </a:r>
            <a:r>
              <a:rPr lang="en-US" dirty="0"/>
              <a:t> create --name </a:t>
            </a:r>
            <a:r>
              <a:rPr lang="en-US" dirty="0" err="1"/>
              <a:t>nlp_course_env</a:t>
            </a:r>
            <a:r>
              <a:rPr lang="en-US" dirty="0"/>
              <a:t> python=3.11</a:t>
            </a:r>
          </a:p>
          <a:p>
            <a:r>
              <a:rPr lang="en-US" dirty="0" err="1"/>
              <a:t>conda</a:t>
            </a:r>
            <a:r>
              <a:rPr lang="en-US" dirty="0"/>
              <a:t> activate </a:t>
            </a:r>
            <a:r>
              <a:rPr lang="en-US" dirty="0" err="1"/>
              <a:t>nlp_course_env</a:t>
            </a:r>
            <a:endParaRPr lang="en-US" dirty="0"/>
          </a:p>
          <a:p>
            <a:r>
              <a:rPr lang="en-US" dirty="0"/>
              <a:t>When activated, you’ll see (</a:t>
            </a:r>
            <a:r>
              <a:rPr lang="en-US" dirty="0" err="1"/>
              <a:t>nlp_course_env</a:t>
            </a:r>
            <a:r>
              <a:rPr lang="en-US" dirty="0"/>
              <a:t>) appear before the command line.</a:t>
            </a:r>
            <a:endParaRPr lang="en-IN" dirty="0"/>
          </a:p>
          <a:p>
            <a:endParaRPr lang="en-IN" dirty="0"/>
          </a:p>
        </p:txBody>
      </p:sp>
    </p:spTree>
    <p:extLst>
      <p:ext uri="{BB962C8B-B14F-4D97-AF65-F5344CB8AC3E}">
        <p14:creationId xmlns:p14="http://schemas.microsoft.com/office/powerpoint/2010/main" val="2779915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Installing the relevant packages.</a:t>
            </a:r>
            <a:br>
              <a:rPr lang="en-IN" dirty="0"/>
            </a:br>
            <a:endParaRPr lang="en-IN" dirty="0"/>
          </a:p>
        </p:txBody>
      </p:sp>
      <p:sp>
        <p:nvSpPr>
          <p:cNvPr id="3" name="Content Placeholder 2"/>
          <p:cNvSpPr>
            <a:spLocks noGrp="1"/>
          </p:cNvSpPr>
          <p:nvPr>
            <p:ph idx="1"/>
          </p:nvPr>
        </p:nvSpPr>
        <p:spPr/>
        <p:txBody>
          <a:bodyPr>
            <a:normAutofit fontScale="92500"/>
          </a:bodyPr>
          <a:lstStyle/>
          <a:p>
            <a:r>
              <a:rPr lang="en-IN" dirty="0"/>
              <a:t>To install the required packages into the new environment, we'll use pip - Python’s built-in package installer. Think of </a:t>
            </a:r>
            <a:r>
              <a:rPr lang="en-IN" dirty="0" err="1"/>
              <a:t>conda</a:t>
            </a:r>
            <a:r>
              <a:rPr lang="en-IN" dirty="0"/>
              <a:t> as setting up the room (environment), and pip as bringing in the furniture (the libraries).</a:t>
            </a:r>
          </a:p>
          <a:p>
            <a:r>
              <a:rPr lang="en-IN" dirty="0"/>
              <a:t>We use pip here because some packages are easiest to install from </a:t>
            </a:r>
            <a:r>
              <a:rPr lang="en-IN" dirty="0" err="1"/>
              <a:t>PyPI</a:t>
            </a:r>
            <a:r>
              <a:rPr lang="en-IN" dirty="0"/>
              <a:t>.</a:t>
            </a:r>
          </a:p>
          <a:p>
            <a:r>
              <a:rPr lang="en-IN" dirty="0"/>
              <a:t>In Anaconda Prompt or Terminal, execute:</a:t>
            </a:r>
          </a:p>
          <a:p>
            <a:r>
              <a:rPr lang="en-IN" dirty="0"/>
              <a:t>pip install "</a:t>
            </a:r>
            <a:r>
              <a:rPr lang="en-IN" dirty="0" err="1"/>
              <a:t>numpy</a:t>
            </a:r>
            <a:r>
              <a:rPr lang="en-IN" dirty="0"/>
              <a:t>&lt;2.0" </a:t>
            </a:r>
            <a:r>
              <a:rPr lang="en-IN" dirty="0" err="1"/>
              <a:t>nltk</a:t>
            </a:r>
            <a:r>
              <a:rPr lang="en-IN" dirty="0"/>
              <a:t>==3.9.1 pandas==2.2.3 </a:t>
            </a:r>
            <a:r>
              <a:rPr lang="en-IN" dirty="0" err="1"/>
              <a:t>matplotlib</a:t>
            </a:r>
            <a:r>
              <a:rPr lang="en-IN" dirty="0"/>
              <a:t>==3.10.0 spacy==3.8.3 </a:t>
            </a:r>
            <a:r>
              <a:rPr lang="en-IN" dirty="0" err="1"/>
              <a:t>textblob</a:t>
            </a:r>
            <a:r>
              <a:rPr lang="en-IN" dirty="0"/>
              <a:t>==0.18.0.post0 </a:t>
            </a:r>
            <a:r>
              <a:rPr lang="en-IN" dirty="0" err="1"/>
              <a:t>vaderSentiment</a:t>
            </a:r>
            <a:r>
              <a:rPr lang="en-IN" dirty="0"/>
              <a:t>==3.3.2 transformers==4.47.1 </a:t>
            </a:r>
            <a:r>
              <a:rPr lang="en-IN" dirty="0" err="1"/>
              <a:t>scikit</a:t>
            </a:r>
            <a:r>
              <a:rPr lang="en-IN" dirty="0"/>
              <a:t>-learn==1.6.0 </a:t>
            </a:r>
            <a:r>
              <a:rPr lang="en-IN" dirty="0" err="1"/>
              <a:t>gensim</a:t>
            </a:r>
            <a:r>
              <a:rPr lang="en-IN" dirty="0"/>
              <a:t>==4.3.3 </a:t>
            </a:r>
            <a:r>
              <a:rPr lang="en-IN" dirty="0" err="1"/>
              <a:t>seaborn</a:t>
            </a:r>
            <a:r>
              <a:rPr lang="en-IN" dirty="0"/>
              <a:t>==0.13.2 torch==2.5.1 </a:t>
            </a:r>
            <a:r>
              <a:rPr lang="en-IN" dirty="0" err="1"/>
              <a:t>ipywidgets</a:t>
            </a:r>
            <a:r>
              <a:rPr lang="en-IN" dirty="0"/>
              <a:t>==8.1.5 </a:t>
            </a:r>
            <a:r>
              <a:rPr lang="en-IN" dirty="0" err="1"/>
              <a:t>chardet</a:t>
            </a:r>
            <a:r>
              <a:rPr lang="en-IN" dirty="0"/>
              <a:t> </a:t>
            </a:r>
            <a:r>
              <a:rPr lang="en-IN" dirty="0" err="1"/>
              <a:t>ipykernel</a:t>
            </a:r>
            <a:r>
              <a:rPr lang="en-IN" dirty="0"/>
              <a:t> </a:t>
            </a:r>
            <a:r>
              <a:rPr lang="en-IN" dirty="0" err="1"/>
              <a:t>jupyterlab</a:t>
            </a:r>
            <a:r>
              <a:rPr lang="en-IN" dirty="0"/>
              <a:t> notebook</a:t>
            </a:r>
          </a:p>
        </p:txBody>
      </p:sp>
    </p:spTree>
    <p:extLst>
      <p:ext uri="{BB962C8B-B14F-4D97-AF65-F5344CB8AC3E}">
        <p14:creationId xmlns:p14="http://schemas.microsoft.com/office/powerpoint/2010/main" val="3978933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Next, download the </a:t>
            </a:r>
            <a:r>
              <a:rPr lang="en-IN" dirty="0" err="1"/>
              <a:t>spaCy</a:t>
            </a:r>
            <a:r>
              <a:rPr lang="en-IN" dirty="0"/>
              <a:t> language model:</a:t>
            </a:r>
          </a:p>
          <a:p>
            <a:r>
              <a:rPr lang="en-IN" dirty="0"/>
              <a:t>python -m spacy download </a:t>
            </a:r>
            <a:r>
              <a:rPr lang="en-IN" dirty="0" err="1"/>
              <a:t>en_core_web_sm</a:t>
            </a:r>
            <a:endParaRPr lang="en-IN" dirty="0"/>
          </a:p>
          <a:p>
            <a:r>
              <a:rPr lang="en-IN" dirty="0"/>
              <a:t>And register the new environment as a </a:t>
            </a:r>
            <a:r>
              <a:rPr lang="en-IN" dirty="0" err="1"/>
              <a:t>Jupyter</a:t>
            </a:r>
            <a:r>
              <a:rPr lang="en-IN" dirty="0"/>
              <a:t> kernel:</a:t>
            </a:r>
          </a:p>
          <a:p>
            <a:r>
              <a:rPr lang="en-IN" dirty="0"/>
              <a:t>python -m </a:t>
            </a:r>
            <a:r>
              <a:rPr lang="en-IN" dirty="0" err="1"/>
              <a:t>ipykernel</a:t>
            </a:r>
            <a:r>
              <a:rPr lang="en-IN" dirty="0"/>
              <a:t> install --user --name=</a:t>
            </a:r>
            <a:r>
              <a:rPr lang="en-IN" dirty="0" err="1"/>
              <a:t>nlp_course_env</a:t>
            </a:r>
            <a:endParaRPr lang="en-IN" dirty="0"/>
          </a:p>
          <a:p>
            <a:r>
              <a:rPr lang="en-IN" dirty="0"/>
              <a:t>Then, open Anaconda Navigator and remember to set the environment to "</a:t>
            </a:r>
            <a:r>
              <a:rPr lang="en-IN" dirty="0" err="1"/>
              <a:t>nlp_course_env</a:t>
            </a:r>
            <a:r>
              <a:rPr lang="en-IN" dirty="0"/>
              <a:t>". Launch </a:t>
            </a:r>
            <a:r>
              <a:rPr lang="en-IN" dirty="0" err="1"/>
              <a:t>Jupyter</a:t>
            </a:r>
            <a:r>
              <a:rPr lang="en-IN" dirty="0"/>
              <a:t> </a:t>
            </a:r>
            <a:r>
              <a:rPr lang="en-IN" dirty="0" err="1"/>
              <a:t>Notebok</a:t>
            </a:r>
            <a:r>
              <a:rPr lang="en-IN" dirty="0"/>
              <a:t> and check the kernel is also set to "</a:t>
            </a:r>
            <a:r>
              <a:rPr lang="en-IN" dirty="0" err="1"/>
              <a:t>nlp_course_env</a:t>
            </a:r>
            <a:r>
              <a:rPr lang="en-IN" dirty="0"/>
              <a:t>".</a:t>
            </a:r>
          </a:p>
        </p:txBody>
      </p:sp>
    </p:spTree>
    <p:extLst>
      <p:ext uri="{BB962C8B-B14F-4D97-AF65-F5344CB8AC3E}">
        <p14:creationId xmlns:p14="http://schemas.microsoft.com/office/powerpoint/2010/main" val="4212832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3. Explaining the packages.</a:t>
            </a:r>
          </a:p>
        </p:txBody>
      </p:sp>
      <p:sp>
        <p:nvSpPr>
          <p:cNvPr id="3" name="Content Placeholder 2"/>
          <p:cNvSpPr>
            <a:spLocks noGrp="1"/>
          </p:cNvSpPr>
          <p:nvPr>
            <p:ph idx="1"/>
          </p:nvPr>
        </p:nvSpPr>
        <p:spPr/>
        <p:txBody>
          <a:bodyPr>
            <a:normAutofit/>
          </a:bodyPr>
          <a:lstStyle/>
          <a:p>
            <a:r>
              <a:rPr lang="en-US" dirty="0" err="1"/>
              <a:t>nltk</a:t>
            </a:r>
            <a:r>
              <a:rPr lang="en-US" dirty="0"/>
              <a:t> (3.9.1) – The Natural Language Toolkit, one of the oldest and most widely used NLP libraries. It includes tools for breaking text into words or sentences (tokenizers), simplifying words to their base form (stemmers, </a:t>
            </a:r>
            <a:r>
              <a:rPr lang="en-US" dirty="0" err="1"/>
              <a:t>lemmatizers</a:t>
            </a:r>
            <a:r>
              <a:rPr lang="en-US" dirty="0"/>
              <a:t>), and accessing large text collections and linguistic datasets. Great for learning and experimenting with NLP basics.</a:t>
            </a:r>
          </a:p>
          <a:p>
            <a:r>
              <a:rPr lang="en-US" dirty="0"/>
              <a:t>pandas (2.2.3) – Provides the </a:t>
            </a:r>
            <a:r>
              <a:rPr lang="en-US" dirty="0" err="1"/>
              <a:t>DataFrame</a:t>
            </a:r>
            <a:r>
              <a:rPr lang="en-US" dirty="0"/>
              <a:t> structure, which makes it easy to load, clean, and organize data in rows and columns (similar to Excel, but much more powerful). You’ll use it to manipulate text datasets and combine them with other information.</a:t>
            </a:r>
            <a:endParaRPr lang="en-IN" dirty="0"/>
          </a:p>
        </p:txBody>
      </p:sp>
    </p:spTree>
    <p:extLst>
      <p:ext uri="{BB962C8B-B14F-4D97-AF65-F5344CB8AC3E}">
        <p14:creationId xmlns:p14="http://schemas.microsoft.com/office/powerpoint/2010/main" val="3352595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matplotlib</a:t>
            </a:r>
            <a:r>
              <a:rPr lang="en-US" dirty="0"/>
              <a:t> (3.10.0) – The fundamental Python plotting library. It lets you create line charts, bar graphs, scatter plots, and more. Think of it as the "drawing canvas" for your data visualizations.</a:t>
            </a:r>
          </a:p>
          <a:p>
            <a:r>
              <a:rPr lang="en-US" dirty="0" err="1"/>
              <a:t>seaborn</a:t>
            </a:r>
            <a:r>
              <a:rPr lang="en-US" dirty="0"/>
              <a:t> (0.13.2) – Built on top of </a:t>
            </a:r>
            <a:r>
              <a:rPr lang="en-US" dirty="0" err="1"/>
              <a:t>matplotlib</a:t>
            </a:r>
            <a:r>
              <a:rPr lang="en-US" dirty="0"/>
              <a:t>, but with easier functions and beautiful default styles. It’s especially good for statistical plots, like showing correlations between variables or distributions of data.</a:t>
            </a:r>
            <a:endParaRPr lang="en-IN" dirty="0"/>
          </a:p>
        </p:txBody>
      </p:sp>
    </p:spTree>
    <p:extLst>
      <p:ext uri="{BB962C8B-B14F-4D97-AF65-F5344CB8AC3E}">
        <p14:creationId xmlns:p14="http://schemas.microsoft.com/office/powerpoint/2010/main" val="1452079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scikit</a:t>
            </a:r>
            <a:r>
              <a:rPr lang="en-US" dirty="0"/>
              <a:t>-learn (1.6.0) – A general-purpose machine learning toolkit. It provides algorithms for classification, regression, clustering, feature extraction, and model evaluation. It’s often used for building traditional ML models before moving on to deep learning.</a:t>
            </a:r>
          </a:p>
          <a:p>
            <a:r>
              <a:rPr lang="en-US" dirty="0" err="1"/>
              <a:t>spaCy</a:t>
            </a:r>
            <a:r>
              <a:rPr lang="en-US" dirty="0"/>
              <a:t> (3.8.3) – A modern NLP library designed for speed and production use. It handles advanced tasks like part-of-speech tagging (identifying nouns/verbs), named entity recognition (detecting people, places, organizations), and syntactic parsing. It’s faster and more practical than NLTK for large-scale projects.</a:t>
            </a:r>
            <a:endParaRPr lang="en-IN" dirty="0"/>
          </a:p>
        </p:txBody>
      </p:sp>
    </p:spTree>
    <p:extLst>
      <p:ext uri="{BB962C8B-B14F-4D97-AF65-F5344CB8AC3E}">
        <p14:creationId xmlns:p14="http://schemas.microsoft.com/office/powerpoint/2010/main" val="3984849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TextBlob</a:t>
            </a:r>
            <a:r>
              <a:rPr lang="en-US" dirty="0"/>
              <a:t> (0.18.0.post0) – A beginner-friendly NLP library that wraps around NLTK and other tools. It makes common tasks like sentiment analysis, phrase extraction, and translation very simple with just a few lines of code.</a:t>
            </a:r>
          </a:p>
          <a:p>
            <a:endParaRPr lang="en-US" dirty="0"/>
          </a:p>
          <a:p>
            <a:r>
              <a:rPr lang="en-US" dirty="0"/>
              <a:t>VADER Sentiment (3.3.2) – A lightweight, rule-based tool for sentiment analysis, tuned for short, casual texts like tweets, reviews, and comments. It understands things like exclamation marks, capitalization, and even emoji sentiment.</a:t>
            </a:r>
            <a:endParaRPr lang="en-IN" dirty="0"/>
          </a:p>
        </p:txBody>
      </p:sp>
    </p:spTree>
    <p:extLst>
      <p:ext uri="{BB962C8B-B14F-4D97-AF65-F5344CB8AC3E}">
        <p14:creationId xmlns:p14="http://schemas.microsoft.com/office/powerpoint/2010/main" val="482246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gensim</a:t>
            </a:r>
            <a:r>
              <a:rPr lang="en-US" dirty="0"/>
              <a:t> (4.3.3) – A library for topic modeling and working with word </a:t>
            </a:r>
            <a:r>
              <a:rPr lang="en-US" dirty="0" err="1"/>
              <a:t>embeddings</a:t>
            </a:r>
            <a:r>
              <a:rPr lang="en-US" dirty="0"/>
              <a:t>. It’s known for algorithms like Word2Vec (which learns word meanings from context) and LDA (Latent </a:t>
            </a:r>
            <a:r>
              <a:rPr lang="en-US" dirty="0" err="1"/>
              <a:t>Dirichlet</a:t>
            </a:r>
            <a:r>
              <a:rPr lang="en-US" dirty="0"/>
              <a:t> Allocation) for discovering hidden topics in large text collections.</a:t>
            </a:r>
          </a:p>
          <a:p>
            <a:endParaRPr lang="en-US" dirty="0"/>
          </a:p>
          <a:p>
            <a:r>
              <a:rPr lang="en-US" dirty="0"/>
              <a:t>transformers (4.47.1) – From Hugging Face, this is the go-to library for using state-of-the-art NLP models like BERT, GPT, and other large language models. It makes it easy to load </a:t>
            </a:r>
            <a:r>
              <a:rPr lang="en-US" dirty="0" err="1"/>
              <a:t>pretrained</a:t>
            </a:r>
            <a:r>
              <a:rPr lang="en-US" dirty="0"/>
              <a:t> models for tasks like classification, text generation, and translation.</a:t>
            </a:r>
            <a:endParaRPr lang="en-IN" dirty="0"/>
          </a:p>
        </p:txBody>
      </p:sp>
    </p:spTree>
    <p:extLst>
      <p:ext uri="{BB962C8B-B14F-4D97-AF65-F5344CB8AC3E}">
        <p14:creationId xmlns:p14="http://schemas.microsoft.com/office/powerpoint/2010/main" val="167969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PyTorch</a:t>
            </a:r>
            <a:r>
              <a:rPr lang="en-US" dirty="0"/>
              <a:t> (torch 2.5.1) – A deep learning framework that powers libraries like transformers. It’s used to build and train custom neural networks for NLP and beyond. Many cutting-edge AI models are implemented in </a:t>
            </a:r>
            <a:r>
              <a:rPr lang="en-US" dirty="0" err="1"/>
              <a:t>PyTorch</a:t>
            </a:r>
            <a:r>
              <a:rPr lang="en-US" dirty="0"/>
              <a:t>.</a:t>
            </a:r>
          </a:p>
          <a:p>
            <a:endParaRPr lang="en-US" dirty="0"/>
          </a:p>
          <a:p>
            <a:r>
              <a:rPr lang="en-US" dirty="0" err="1"/>
              <a:t>ipywidgets</a:t>
            </a:r>
            <a:r>
              <a:rPr lang="en-US" dirty="0"/>
              <a:t> (8.1.5) – Provides interactive controls (like sliders, dropdowns, and buttons) inside </a:t>
            </a:r>
            <a:r>
              <a:rPr lang="en-US" dirty="0" err="1"/>
              <a:t>Jupyter</a:t>
            </a:r>
            <a:r>
              <a:rPr lang="en-US" dirty="0"/>
              <a:t> notebooks. These let you build small UIs that make experiments more visual and hands-on.</a:t>
            </a:r>
            <a:endParaRPr lang="en-IN" dirty="0"/>
          </a:p>
        </p:txBody>
      </p:sp>
    </p:spTree>
    <p:extLst>
      <p:ext uri="{BB962C8B-B14F-4D97-AF65-F5344CB8AC3E}">
        <p14:creationId xmlns:p14="http://schemas.microsoft.com/office/powerpoint/2010/main" val="1932423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NumPy</a:t>
            </a:r>
            <a:r>
              <a:rPr lang="en-US" dirty="0"/>
              <a:t> &lt;(2.0.0) – The foundational library for numerical computing in Python. It introduces the powerful </a:t>
            </a:r>
            <a:r>
              <a:rPr lang="en-US" dirty="0" err="1"/>
              <a:t>ndarray</a:t>
            </a:r>
            <a:r>
              <a:rPr lang="en-US" dirty="0"/>
              <a:t> object, which lets you store and process large arrays and matrices of numbers efficiently. </a:t>
            </a:r>
            <a:r>
              <a:rPr lang="en-US" dirty="0" err="1"/>
              <a:t>NumPy</a:t>
            </a:r>
            <a:r>
              <a:rPr lang="en-US" dirty="0"/>
              <a:t> is behind almost every data science or machine learning library — it provides the fast, </a:t>
            </a:r>
            <a:r>
              <a:rPr lang="en-US" dirty="0" err="1"/>
              <a:t>vectorized</a:t>
            </a:r>
            <a:r>
              <a:rPr lang="en-US" dirty="0"/>
              <a:t> math operations that make Python suitable for heavy computations. You’ll use it for tasks like matrix operations, statistical calculations, and data transformations that feed into models or visualizations.</a:t>
            </a:r>
            <a:endParaRPr lang="en-IN" dirty="0"/>
          </a:p>
        </p:txBody>
      </p:sp>
    </p:spTree>
    <p:extLst>
      <p:ext uri="{BB962C8B-B14F-4D97-AF65-F5344CB8AC3E}">
        <p14:creationId xmlns:p14="http://schemas.microsoft.com/office/powerpoint/2010/main" val="3617493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Converting text into lowercase</a:t>
            </a:r>
          </a:p>
        </p:txBody>
      </p:sp>
      <p:sp>
        <p:nvSpPr>
          <p:cNvPr id="3" name="Content Placeholder 2"/>
          <p:cNvSpPr>
            <a:spLocks noGrp="1"/>
          </p:cNvSpPr>
          <p:nvPr>
            <p:ph idx="1"/>
          </p:nvPr>
        </p:nvSpPr>
        <p:spPr/>
        <p:txBody>
          <a:bodyPr/>
          <a:lstStyle/>
          <a:p>
            <a:r>
              <a:rPr lang="en-IN" dirty="0"/>
              <a:t>Lowercasing makes sure everything follows the same format.</a:t>
            </a:r>
          </a:p>
          <a:p>
            <a:endParaRPr lang="en-IN" dirty="0"/>
          </a:p>
        </p:txBody>
      </p:sp>
    </p:spTree>
    <p:extLst>
      <p:ext uri="{BB962C8B-B14F-4D97-AF65-F5344CB8AC3E}">
        <p14:creationId xmlns:p14="http://schemas.microsoft.com/office/powerpoint/2010/main" val="3254883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NLTK library</a:t>
            </a:r>
          </a:p>
        </p:txBody>
      </p:sp>
      <p:sp>
        <p:nvSpPr>
          <p:cNvPr id="3" name="Content Placeholder 2"/>
          <p:cNvSpPr>
            <a:spLocks noGrp="1"/>
          </p:cNvSpPr>
          <p:nvPr>
            <p:ph idx="1"/>
          </p:nvPr>
        </p:nvSpPr>
        <p:spPr/>
        <p:txBody>
          <a:bodyPr/>
          <a:lstStyle/>
          <a:p>
            <a:r>
              <a:rPr lang="en-IN" dirty="0"/>
              <a:t>Natural Language Tool Kit</a:t>
            </a:r>
          </a:p>
          <a:p>
            <a:r>
              <a:rPr lang="en-IN" dirty="0"/>
              <a:t>Predefined lists of </a:t>
            </a:r>
            <a:r>
              <a:rPr lang="en-IN" dirty="0" err="1"/>
              <a:t>stopwords</a:t>
            </a:r>
            <a:endParaRPr lang="en-IN" dirty="0"/>
          </a:p>
          <a:p>
            <a:r>
              <a:rPr lang="en-IN" dirty="0"/>
              <a:t>Tools for tokenizing text</a:t>
            </a:r>
          </a:p>
          <a:p>
            <a:r>
              <a:rPr lang="en-IN" dirty="0"/>
              <a:t>Datasets for experiments</a:t>
            </a:r>
          </a:p>
        </p:txBody>
      </p:sp>
    </p:spTree>
    <p:extLst>
      <p:ext uri="{BB962C8B-B14F-4D97-AF65-F5344CB8AC3E}">
        <p14:creationId xmlns:p14="http://schemas.microsoft.com/office/powerpoint/2010/main" val="322228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Regex</a:t>
            </a:r>
          </a:p>
        </p:txBody>
      </p:sp>
      <p:sp>
        <p:nvSpPr>
          <p:cNvPr id="3" name="Content Placeholder 2"/>
          <p:cNvSpPr>
            <a:spLocks noGrp="1"/>
          </p:cNvSpPr>
          <p:nvPr>
            <p:ph idx="1"/>
          </p:nvPr>
        </p:nvSpPr>
        <p:spPr/>
        <p:txBody>
          <a:bodyPr/>
          <a:lstStyle/>
          <a:p>
            <a:r>
              <a:rPr lang="en-IN" dirty="0"/>
              <a:t>A special way of writing patterns to search through text.</a:t>
            </a:r>
          </a:p>
          <a:p>
            <a:endParaRPr lang="en-IN" dirty="0"/>
          </a:p>
        </p:txBody>
      </p:sp>
    </p:spTree>
    <p:extLst>
      <p:ext uri="{BB962C8B-B14F-4D97-AF65-F5344CB8AC3E}">
        <p14:creationId xmlns:p14="http://schemas.microsoft.com/office/powerpoint/2010/main" val="3234264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Parts of Speech and Named Entity Recognition</a:t>
            </a:r>
          </a:p>
        </p:txBody>
      </p:sp>
      <p:sp>
        <p:nvSpPr>
          <p:cNvPr id="3" name="Content Placeholder 2"/>
          <p:cNvSpPr>
            <a:spLocks noGrp="1"/>
          </p:cNvSpPr>
          <p:nvPr>
            <p:ph idx="1"/>
          </p:nvPr>
        </p:nvSpPr>
        <p:spPr/>
        <p:txBody>
          <a:bodyPr>
            <a:normAutofit fontScale="92500" lnSpcReduction="10000"/>
          </a:bodyPr>
          <a:lstStyle/>
          <a:p>
            <a:pPr marL="0" indent="0">
              <a:buNone/>
            </a:pPr>
            <a:r>
              <a:rPr lang="en-IN" b="1" dirty="0"/>
              <a:t>POS Tagging</a:t>
            </a:r>
          </a:p>
          <a:p>
            <a:r>
              <a:rPr lang="en-IN" dirty="0"/>
              <a:t>I want an early upgrade.</a:t>
            </a:r>
          </a:p>
          <a:p>
            <a:r>
              <a:rPr lang="en-IN" dirty="0" err="1"/>
              <a:t>Pron</a:t>
            </a:r>
            <a:r>
              <a:rPr lang="en-IN" dirty="0"/>
              <a:t> verb </a:t>
            </a:r>
            <a:r>
              <a:rPr lang="en-IN" dirty="0" err="1"/>
              <a:t>det</a:t>
            </a:r>
            <a:r>
              <a:rPr lang="en-IN" dirty="0"/>
              <a:t> </a:t>
            </a:r>
            <a:r>
              <a:rPr lang="en-IN" dirty="0" err="1"/>
              <a:t>adj</a:t>
            </a:r>
            <a:r>
              <a:rPr lang="en-IN" dirty="0"/>
              <a:t> noun</a:t>
            </a:r>
          </a:p>
          <a:p>
            <a:pPr marL="0" indent="0">
              <a:buNone/>
            </a:pPr>
            <a:r>
              <a:rPr lang="en-IN" dirty="0" err="1"/>
              <a:t>Labeling</a:t>
            </a:r>
            <a:r>
              <a:rPr lang="en-IN" dirty="0"/>
              <a:t> each word in a sentence with its grammatical role.</a:t>
            </a:r>
          </a:p>
          <a:p>
            <a:pPr marL="0" indent="0">
              <a:buNone/>
            </a:pPr>
            <a:r>
              <a:rPr lang="en-IN" b="1" dirty="0"/>
              <a:t>Named Entity Recognition</a:t>
            </a:r>
          </a:p>
          <a:p>
            <a:r>
              <a:rPr lang="en-IN" dirty="0"/>
              <a:t> Barack Obama was born in Honolulu, </a:t>
            </a:r>
            <a:r>
              <a:rPr lang="en-IN" dirty="0" err="1"/>
              <a:t>Hawai</a:t>
            </a:r>
            <a:r>
              <a:rPr lang="en-IN" dirty="0"/>
              <a:t> and served as the 44</a:t>
            </a:r>
            <a:r>
              <a:rPr lang="en-IN" baseline="30000" dirty="0"/>
              <a:t>th</a:t>
            </a:r>
            <a:r>
              <a:rPr lang="en-IN" dirty="0"/>
              <a:t> president of the United States.</a:t>
            </a:r>
          </a:p>
          <a:p>
            <a:pPr marL="0" indent="0">
              <a:buNone/>
            </a:pPr>
            <a:r>
              <a:rPr lang="en-IN" dirty="0"/>
              <a:t>Person, location, ordinal, geo-political entity.</a:t>
            </a:r>
          </a:p>
          <a:p>
            <a:pPr marL="0" indent="0">
              <a:buNone/>
            </a:pPr>
            <a:r>
              <a:rPr lang="en-IN" dirty="0"/>
              <a:t>Named Entity Recognition is the process of finding and labelling essential pieces of information in text.</a:t>
            </a:r>
          </a:p>
          <a:p>
            <a:endParaRPr lang="en-IN" dirty="0"/>
          </a:p>
        </p:txBody>
      </p:sp>
    </p:spTree>
    <p:extLst>
      <p:ext uri="{BB962C8B-B14F-4D97-AF65-F5344CB8AC3E}">
        <p14:creationId xmlns:p14="http://schemas.microsoft.com/office/powerpoint/2010/main" val="1846142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SpaCy</a:t>
            </a:r>
            <a:endParaRPr lang="en-IN" dirty="0"/>
          </a:p>
        </p:txBody>
      </p:sp>
      <p:sp>
        <p:nvSpPr>
          <p:cNvPr id="3" name="Content Placeholder 2"/>
          <p:cNvSpPr>
            <a:spLocks noGrp="1"/>
          </p:cNvSpPr>
          <p:nvPr>
            <p:ph idx="1"/>
          </p:nvPr>
        </p:nvSpPr>
        <p:spPr/>
        <p:txBody>
          <a:bodyPr/>
          <a:lstStyle/>
          <a:p>
            <a:r>
              <a:rPr lang="en-IN" dirty="0"/>
              <a:t>An NLP library that comes with </a:t>
            </a:r>
            <a:r>
              <a:rPr lang="en-IN" dirty="0" err="1"/>
              <a:t>pretrained</a:t>
            </a:r>
            <a:r>
              <a:rPr lang="en-IN" dirty="0"/>
              <a:t> models capable of recognizing parts of speech, named entities and other linguistic features.</a:t>
            </a:r>
          </a:p>
        </p:txBody>
      </p:sp>
    </p:spTree>
    <p:extLst>
      <p:ext uri="{BB962C8B-B14F-4D97-AF65-F5344CB8AC3E}">
        <p14:creationId xmlns:p14="http://schemas.microsoft.com/office/powerpoint/2010/main" val="3076693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NER</a:t>
            </a:r>
          </a:p>
        </p:txBody>
      </p:sp>
      <p:sp>
        <p:nvSpPr>
          <p:cNvPr id="3" name="Content Placeholder 2"/>
          <p:cNvSpPr>
            <a:spLocks noGrp="1"/>
          </p:cNvSpPr>
          <p:nvPr>
            <p:ph idx="1"/>
          </p:nvPr>
        </p:nvSpPr>
        <p:spPr/>
        <p:txBody>
          <a:bodyPr/>
          <a:lstStyle/>
          <a:p>
            <a:r>
              <a:rPr lang="en-IN" dirty="0"/>
              <a:t>NER uses a combination of rules and machine learning to discover the entities.</a:t>
            </a:r>
          </a:p>
          <a:p>
            <a:r>
              <a:rPr lang="en-IN" dirty="0"/>
              <a:t>NER is a powerful tool for turning unstructured text into </a:t>
            </a:r>
            <a:r>
              <a:rPr lang="en-IN"/>
              <a:t>structured information.</a:t>
            </a:r>
            <a:endParaRPr lang="en-IN" dirty="0"/>
          </a:p>
          <a:p>
            <a:endParaRPr lang="en-IN" dirty="0"/>
          </a:p>
        </p:txBody>
      </p:sp>
    </p:spTree>
    <p:extLst>
      <p:ext uri="{BB962C8B-B14F-4D97-AF65-F5344CB8AC3E}">
        <p14:creationId xmlns:p14="http://schemas.microsoft.com/office/powerpoint/2010/main" val="3880590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Sentiment Analysis</a:t>
            </a:r>
          </a:p>
        </p:txBody>
      </p:sp>
      <p:sp>
        <p:nvSpPr>
          <p:cNvPr id="3" name="Content Placeholder 2"/>
          <p:cNvSpPr>
            <a:spLocks noGrp="1"/>
          </p:cNvSpPr>
          <p:nvPr>
            <p:ph idx="1"/>
          </p:nvPr>
        </p:nvSpPr>
        <p:spPr/>
        <p:txBody>
          <a:bodyPr/>
          <a:lstStyle/>
          <a:p>
            <a:pPr marL="0" indent="0">
              <a:buNone/>
            </a:pPr>
            <a:r>
              <a:rPr lang="en-IN" b="1" dirty="0"/>
              <a:t>Positive sentiment</a:t>
            </a:r>
          </a:p>
          <a:p>
            <a:r>
              <a:rPr lang="en-IN" dirty="0"/>
              <a:t>Expression of liking something</a:t>
            </a:r>
          </a:p>
          <a:p>
            <a:r>
              <a:rPr lang="en-IN" dirty="0"/>
              <a:t>Enjoyment</a:t>
            </a:r>
          </a:p>
          <a:p>
            <a:r>
              <a:rPr lang="en-IN" dirty="0"/>
              <a:t>Positive emotion</a:t>
            </a:r>
          </a:p>
          <a:p>
            <a:pPr marL="0" indent="0">
              <a:buNone/>
            </a:pPr>
            <a:r>
              <a:rPr lang="en-IN" dirty="0"/>
              <a:t>Example – The music made me feel relaxed and calm.</a:t>
            </a:r>
          </a:p>
          <a:p>
            <a:pPr marL="0" indent="0">
              <a:buNone/>
            </a:pPr>
            <a:r>
              <a:rPr lang="en-IN" b="1" dirty="0"/>
              <a:t>Negative sentiment</a:t>
            </a:r>
          </a:p>
          <a:p>
            <a:pPr marL="0" indent="0">
              <a:buNone/>
            </a:pPr>
            <a:r>
              <a:rPr lang="en-IN" dirty="0"/>
              <a:t>Expression of negative emotion</a:t>
            </a:r>
          </a:p>
          <a:p>
            <a:pPr marL="0" indent="0">
              <a:buNone/>
            </a:pPr>
            <a:r>
              <a:rPr lang="en-IN" dirty="0"/>
              <a:t>Example – The smell was bad and made me sick.</a:t>
            </a:r>
          </a:p>
          <a:p>
            <a:pPr marL="0" indent="0">
              <a:buNone/>
            </a:pPr>
            <a:endParaRPr lang="en-IN" dirty="0"/>
          </a:p>
          <a:p>
            <a:endParaRPr lang="en-IN" dirty="0"/>
          </a:p>
          <a:p>
            <a:pPr marL="0" indent="0">
              <a:buNone/>
            </a:pPr>
            <a:endParaRPr lang="en-IN" dirty="0"/>
          </a:p>
        </p:txBody>
      </p:sp>
    </p:spTree>
    <p:extLst>
      <p:ext uri="{BB962C8B-B14F-4D97-AF65-F5344CB8AC3E}">
        <p14:creationId xmlns:p14="http://schemas.microsoft.com/office/powerpoint/2010/main" val="21871342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b="1" dirty="0"/>
              <a:t>Neutral sentiment</a:t>
            </a:r>
          </a:p>
          <a:p>
            <a:pPr marL="0" indent="0">
              <a:buNone/>
            </a:pPr>
            <a:r>
              <a:rPr lang="en-IN" dirty="0"/>
              <a:t>Sentence doesn’t really appear to be positive or negative.</a:t>
            </a:r>
          </a:p>
          <a:p>
            <a:pPr marL="0" indent="0">
              <a:buNone/>
            </a:pPr>
            <a:r>
              <a:rPr lang="en-IN" b="1" dirty="0"/>
              <a:t>Example </a:t>
            </a:r>
          </a:p>
          <a:p>
            <a:pPr marL="0" indent="0">
              <a:buNone/>
            </a:pPr>
            <a:r>
              <a:rPr lang="en-IN" dirty="0"/>
              <a:t>It was raining</a:t>
            </a:r>
          </a:p>
          <a:p>
            <a:pPr marL="0" indent="0">
              <a:buNone/>
            </a:pPr>
            <a:endParaRPr lang="en-IN" dirty="0"/>
          </a:p>
        </p:txBody>
      </p:sp>
    </p:spTree>
    <p:extLst>
      <p:ext uri="{BB962C8B-B14F-4D97-AF65-F5344CB8AC3E}">
        <p14:creationId xmlns:p14="http://schemas.microsoft.com/office/powerpoint/2010/main" val="1398778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Rule-based sentiment analysis</a:t>
            </a:r>
          </a:p>
        </p:txBody>
      </p:sp>
      <p:sp>
        <p:nvSpPr>
          <p:cNvPr id="3" name="Content Placeholder 2"/>
          <p:cNvSpPr>
            <a:spLocks noGrp="1"/>
          </p:cNvSpPr>
          <p:nvPr>
            <p:ph idx="1"/>
          </p:nvPr>
        </p:nvSpPr>
        <p:spPr/>
        <p:txBody>
          <a:bodyPr>
            <a:normAutofit/>
          </a:bodyPr>
          <a:lstStyle/>
          <a:p>
            <a:r>
              <a:rPr lang="en-IN" dirty="0"/>
              <a:t>Uses a set of predefined rules that connect words to emotions or attitudes.</a:t>
            </a:r>
          </a:p>
          <a:p>
            <a:r>
              <a:rPr lang="en-IN" dirty="0"/>
              <a:t>Positive – great +0.8</a:t>
            </a:r>
          </a:p>
          <a:p>
            <a:r>
              <a:rPr lang="en-IN" dirty="0"/>
              <a:t>Negative – sad -0.7</a:t>
            </a:r>
          </a:p>
          <a:p>
            <a:pPr marL="0" indent="0">
              <a:buNone/>
            </a:pPr>
            <a:r>
              <a:rPr lang="en-IN" dirty="0"/>
              <a:t>Polarity score is a numerical value that shows whether the word is positive, negative or neutral.</a:t>
            </a:r>
          </a:p>
          <a:p>
            <a:pPr marL="0" indent="0">
              <a:buNone/>
            </a:pPr>
            <a:endParaRPr lang="en-IN" dirty="0"/>
          </a:p>
          <a:p>
            <a:pPr marL="0" indent="0">
              <a:buNone/>
            </a:pPr>
            <a:r>
              <a:rPr lang="en-IN" dirty="0"/>
              <a:t>A lexicon: a collection of words paired with their predefined sentiment scores.</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1884498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Because of their different lexicons, </a:t>
            </a:r>
            <a:r>
              <a:rPr lang="en-IN" dirty="0" err="1"/>
              <a:t>TextBlob</a:t>
            </a:r>
            <a:r>
              <a:rPr lang="en-IN" dirty="0"/>
              <a:t> and VADER may produce different results when analysing the same result.</a:t>
            </a:r>
          </a:p>
          <a:p>
            <a:r>
              <a:rPr lang="en-IN" dirty="0"/>
              <a:t>Rule-based sentiment analysis is easy to understand but not always accurate.</a:t>
            </a:r>
          </a:p>
          <a:p>
            <a:r>
              <a:rPr lang="en-IN" dirty="0"/>
              <a:t>Test more than one package on a sample of your text.</a:t>
            </a:r>
          </a:p>
          <a:p>
            <a:endParaRPr lang="en-IN" dirty="0"/>
          </a:p>
        </p:txBody>
      </p:sp>
    </p:spTree>
    <p:extLst>
      <p:ext uri="{BB962C8B-B14F-4D97-AF65-F5344CB8AC3E}">
        <p14:creationId xmlns:p14="http://schemas.microsoft.com/office/powerpoint/2010/main" val="1215207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Pre-trained transformer models</a:t>
            </a:r>
          </a:p>
        </p:txBody>
      </p:sp>
      <p:sp>
        <p:nvSpPr>
          <p:cNvPr id="3" name="Content Placeholder 2"/>
          <p:cNvSpPr>
            <a:spLocks noGrp="1"/>
          </p:cNvSpPr>
          <p:nvPr>
            <p:ph idx="1"/>
          </p:nvPr>
        </p:nvSpPr>
        <p:spPr/>
        <p:txBody>
          <a:bodyPr/>
          <a:lstStyle/>
          <a:p>
            <a:r>
              <a:rPr lang="en-IN" dirty="0"/>
              <a:t> Transformers can capture how words influence and relate to each other even when they appear far apart in a sentence.</a:t>
            </a:r>
          </a:p>
          <a:p>
            <a:r>
              <a:rPr lang="en-IN" dirty="0"/>
              <a:t>Transformers can understand context.</a:t>
            </a:r>
          </a:p>
          <a:p>
            <a:r>
              <a:rPr lang="en-IN" dirty="0"/>
              <a:t>Pipeline() provides a quick way to use powerful pre-trained models without needing to build them from scratch.</a:t>
            </a:r>
          </a:p>
          <a:p>
            <a:r>
              <a:rPr lang="en-IN" dirty="0"/>
              <a:t>To improve the results, we can use a different pre-trained model.</a:t>
            </a:r>
          </a:p>
        </p:txBody>
      </p:sp>
    </p:spTree>
    <p:extLst>
      <p:ext uri="{BB962C8B-B14F-4D97-AF65-F5344CB8AC3E}">
        <p14:creationId xmlns:p14="http://schemas.microsoft.com/office/powerpoint/2010/main" val="2400716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Vectorizing</a:t>
            </a:r>
            <a:r>
              <a:rPr lang="en-IN" dirty="0"/>
              <a:t> text  - Bag of words</a:t>
            </a:r>
          </a:p>
        </p:txBody>
      </p:sp>
      <p:sp>
        <p:nvSpPr>
          <p:cNvPr id="3" name="Content Placeholder 2"/>
          <p:cNvSpPr>
            <a:spLocks noGrp="1"/>
          </p:cNvSpPr>
          <p:nvPr>
            <p:ph idx="1"/>
          </p:nvPr>
        </p:nvSpPr>
        <p:spPr/>
        <p:txBody>
          <a:bodyPr>
            <a:normAutofit fontScale="92500" lnSpcReduction="10000"/>
          </a:bodyPr>
          <a:lstStyle/>
          <a:p>
            <a:r>
              <a:rPr lang="en-IN" dirty="0" err="1"/>
              <a:t>CountVectorizer</a:t>
            </a:r>
            <a:r>
              <a:rPr lang="en-IN" dirty="0"/>
              <a:t> transforms a collection of text documents into a matrix of token counts.</a:t>
            </a:r>
          </a:p>
          <a:p>
            <a:r>
              <a:rPr lang="en-IN" dirty="0"/>
              <a:t>It breaks the text into words (tokens) and counts how often each word appears.</a:t>
            </a:r>
          </a:p>
          <a:p>
            <a:r>
              <a:rPr lang="en-IN" dirty="0"/>
              <a:t>This gives us the numerical representation we need to apply machine learning techniques to text data.</a:t>
            </a:r>
          </a:p>
          <a:p>
            <a:r>
              <a:rPr lang="en-IN" dirty="0" err="1"/>
              <a:t>Fit_transform</a:t>
            </a:r>
            <a:endParaRPr lang="en-IN" dirty="0"/>
          </a:p>
          <a:p>
            <a:r>
              <a:rPr lang="en-IN" dirty="0"/>
              <a:t>fit – looks through the text and learns which unique words appear in the data.</a:t>
            </a:r>
          </a:p>
          <a:p>
            <a:r>
              <a:rPr lang="en-IN" dirty="0"/>
              <a:t>transform – converts the text into numbers and counts how often each word occurs.</a:t>
            </a:r>
          </a:p>
        </p:txBody>
      </p:sp>
    </p:spTree>
    <p:extLst>
      <p:ext uri="{BB962C8B-B14F-4D97-AF65-F5344CB8AC3E}">
        <p14:creationId xmlns:p14="http://schemas.microsoft.com/office/powerpoint/2010/main" val="887998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err="1"/>
              <a:t>Countvec_fit</a:t>
            </a:r>
            <a:r>
              <a:rPr lang="en-IN" dirty="0"/>
              <a:t> – holds our bag of words representation</a:t>
            </a:r>
          </a:p>
          <a:p>
            <a:r>
              <a:rPr lang="en-IN" dirty="0" err="1"/>
              <a:t>toarray</a:t>
            </a:r>
            <a:r>
              <a:rPr lang="en-IN" dirty="0"/>
              <a:t>() – creates a regular two-dimensional array of numbers which can be placed in </a:t>
            </a:r>
            <a:r>
              <a:rPr lang="en-IN" dirty="0" err="1"/>
              <a:t>DataFrame</a:t>
            </a:r>
            <a:r>
              <a:rPr lang="en-IN" dirty="0"/>
              <a:t>.</a:t>
            </a:r>
          </a:p>
          <a:p>
            <a:r>
              <a:rPr lang="en-IN" dirty="0"/>
              <a:t>Every row =document</a:t>
            </a:r>
          </a:p>
          <a:p>
            <a:r>
              <a:rPr lang="en-IN" dirty="0"/>
              <a:t>Every column = a word from the vocabulary</a:t>
            </a:r>
          </a:p>
          <a:p>
            <a:r>
              <a:rPr lang="en-IN" dirty="0" err="1"/>
              <a:t>get_feature_names_out</a:t>
            </a:r>
            <a:r>
              <a:rPr lang="en-IN" dirty="0"/>
              <a:t> – returns the actual words in the vocabulary/column headers</a:t>
            </a:r>
          </a:p>
        </p:txBody>
      </p:sp>
    </p:spTree>
    <p:extLst>
      <p:ext uri="{BB962C8B-B14F-4D97-AF65-F5344CB8AC3E}">
        <p14:creationId xmlns:p14="http://schemas.microsoft.com/office/powerpoint/2010/main" val="29549770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TF-IDF</a:t>
            </a:r>
          </a:p>
        </p:txBody>
      </p:sp>
      <p:sp>
        <p:nvSpPr>
          <p:cNvPr id="3" name="Content Placeholder 2"/>
          <p:cNvSpPr>
            <a:spLocks noGrp="1"/>
          </p:cNvSpPr>
          <p:nvPr>
            <p:ph idx="1"/>
          </p:nvPr>
        </p:nvSpPr>
        <p:spPr/>
        <p:txBody>
          <a:bodyPr/>
          <a:lstStyle/>
          <a:p>
            <a:r>
              <a:rPr lang="en-IN" dirty="0"/>
              <a:t>How important a word is within a collection of texts</a:t>
            </a:r>
          </a:p>
          <a:p>
            <a:r>
              <a:rPr lang="en-IN" dirty="0"/>
              <a:t>How often a word appears in a single document.</a:t>
            </a:r>
          </a:p>
          <a:p>
            <a:r>
              <a:rPr lang="en-IN" dirty="0"/>
              <a:t>How common it is across all documents </a:t>
            </a:r>
          </a:p>
          <a:p>
            <a:r>
              <a:rPr lang="en-IN" dirty="0"/>
              <a:t>Common words: lower score</a:t>
            </a:r>
          </a:p>
          <a:p>
            <a:r>
              <a:rPr lang="en-IN" dirty="0"/>
              <a:t>Less common words: higher score</a:t>
            </a:r>
          </a:p>
          <a:p>
            <a:endParaRPr lang="en-IN" dirty="0"/>
          </a:p>
          <a:p>
            <a:endParaRPr lang="en-IN" dirty="0"/>
          </a:p>
          <a:p>
            <a:endParaRPr lang="en-IN" dirty="0"/>
          </a:p>
        </p:txBody>
      </p:sp>
    </p:spTree>
    <p:extLst>
      <p:ext uri="{BB962C8B-B14F-4D97-AF65-F5344CB8AC3E}">
        <p14:creationId xmlns:p14="http://schemas.microsoft.com/office/powerpoint/2010/main" val="28899171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LDA</a:t>
            </a:r>
          </a:p>
        </p:txBody>
      </p:sp>
      <p:sp>
        <p:nvSpPr>
          <p:cNvPr id="3" name="Content Placeholder 2"/>
          <p:cNvSpPr>
            <a:spLocks noGrp="1"/>
          </p:cNvSpPr>
          <p:nvPr>
            <p:ph idx="1"/>
          </p:nvPr>
        </p:nvSpPr>
        <p:spPr/>
        <p:txBody>
          <a:bodyPr/>
          <a:lstStyle/>
          <a:p>
            <a:r>
              <a:rPr lang="en-IN" dirty="0"/>
              <a:t>Corpora dictionary</a:t>
            </a:r>
          </a:p>
          <a:p>
            <a:r>
              <a:rPr lang="en-IN" dirty="0"/>
              <a:t>Each word in the articles gets its own ID which will later allow the LDA model to work with the text in a structured way.</a:t>
            </a:r>
          </a:p>
          <a:p>
            <a:r>
              <a:rPr lang="en-IN" dirty="0"/>
              <a:t>doc2bow() takes a single article, looks up each word in the dictionary, and returns a list of word IDs together with their counts.</a:t>
            </a:r>
          </a:p>
          <a:p>
            <a:endParaRPr lang="en-IN" dirty="0"/>
          </a:p>
          <a:p>
            <a:endParaRPr lang="en-IN" dirty="0"/>
          </a:p>
        </p:txBody>
      </p:sp>
    </p:spTree>
    <p:extLst>
      <p:ext uri="{BB962C8B-B14F-4D97-AF65-F5344CB8AC3E}">
        <p14:creationId xmlns:p14="http://schemas.microsoft.com/office/powerpoint/2010/main" val="940429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Determining the number of topics</a:t>
            </a:r>
          </a:p>
        </p:txBody>
      </p:sp>
      <p:sp>
        <p:nvSpPr>
          <p:cNvPr id="3" name="Content Placeholder 2"/>
          <p:cNvSpPr>
            <a:spLocks noGrp="1"/>
          </p:cNvSpPr>
          <p:nvPr>
            <p:ph idx="1"/>
          </p:nvPr>
        </p:nvSpPr>
        <p:spPr/>
        <p:txBody>
          <a:bodyPr/>
          <a:lstStyle/>
          <a:p>
            <a:r>
              <a:rPr lang="en-IN" dirty="0"/>
              <a:t>A coherent score tells us how meaningful the top words in a topic are when grouped together.</a:t>
            </a:r>
          </a:p>
          <a:p>
            <a:r>
              <a:rPr lang="en-IN" dirty="0"/>
              <a:t>Higher scores: the topics make </a:t>
            </a:r>
            <a:r>
              <a:rPr lang="en-IN"/>
              <a:t>more sense</a:t>
            </a:r>
            <a:endParaRPr lang="en-IN" dirty="0"/>
          </a:p>
        </p:txBody>
      </p:sp>
    </p:spTree>
    <p:extLst>
      <p:ext uri="{BB962C8B-B14F-4D97-AF65-F5344CB8AC3E}">
        <p14:creationId xmlns:p14="http://schemas.microsoft.com/office/powerpoint/2010/main" val="27211184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1317</TotalTime>
  <Words>1888</Words>
  <Application>Microsoft Office PowerPoint</Application>
  <PresentationFormat>Widescreen</PresentationFormat>
  <Paragraphs>149</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Calibri Light</vt:lpstr>
      <vt:lpstr>Office Theme</vt:lpstr>
      <vt:lpstr>Natural Language Processing</vt:lpstr>
      <vt:lpstr>Definition</vt:lpstr>
      <vt:lpstr>Supervised and unsupervised ML</vt:lpstr>
      <vt:lpstr>Importance of data preparation</vt:lpstr>
      <vt:lpstr>Virtual environment</vt:lpstr>
      <vt:lpstr>PowerPoint Presentation</vt:lpstr>
      <vt:lpstr>1. Creating new Python evironment. </vt:lpstr>
      <vt:lpstr>PowerPoint Presentation</vt:lpstr>
      <vt:lpstr>2. Installing the relevant packages. </vt:lpstr>
      <vt:lpstr>PowerPoint Presentation</vt:lpstr>
      <vt:lpstr>3. Explaining the packages.</vt:lpstr>
      <vt:lpstr>PowerPoint Presentation</vt:lpstr>
      <vt:lpstr>PowerPoint Presentation</vt:lpstr>
      <vt:lpstr>PowerPoint Presentation</vt:lpstr>
      <vt:lpstr>PowerPoint Presentation</vt:lpstr>
      <vt:lpstr>PowerPoint Presentation</vt:lpstr>
      <vt:lpstr>PowerPoint Presentation</vt:lpstr>
      <vt:lpstr>Converting text into lowercase</vt:lpstr>
      <vt:lpstr>NLTK library</vt:lpstr>
      <vt:lpstr>Regex</vt:lpstr>
      <vt:lpstr>Parts of Speech and Named Entity Recognition</vt:lpstr>
      <vt:lpstr>SpaCy</vt:lpstr>
      <vt:lpstr>NER</vt:lpstr>
      <vt:lpstr>Sentiment Analysis</vt:lpstr>
      <vt:lpstr>PowerPoint Presentation</vt:lpstr>
      <vt:lpstr>Rule-based sentiment analysis</vt:lpstr>
      <vt:lpstr>PowerPoint Presentation</vt:lpstr>
      <vt:lpstr>Pre-trained transformer models</vt:lpstr>
      <vt:lpstr>Vectorizing text  - Bag of words</vt:lpstr>
      <vt:lpstr>PowerPoint Presentation</vt:lpstr>
      <vt:lpstr>TF-IDF</vt:lpstr>
      <vt:lpstr>LDA</vt:lpstr>
      <vt:lpstr>Determining the number of topics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 Language Processing</dc:title>
  <dc:creator>Madan kartheessan</dc:creator>
  <cp:lastModifiedBy>SARAN R 💙</cp:lastModifiedBy>
  <cp:revision>59</cp:revision>
  <dcterms:created xsi:type="dcterms:W3CDTF">2026-07-06T06:09:10Z</dcterms:created>
  <dcterms:modified xsi:type="dcterms:W3CDTF">2026-10-13T11:54:35Z</dcterms:modified>
</cp:coreProperties>
</file>